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950075" cy="9236075"/>
  <p:embeddedFontLst>
    <p:embeddedFont>
      <p:font typeface="Limelight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0tddoSaB6iJ/zXapdGQYijQ2w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0A905F-39DD-448F-8939-5F8EFAC5F3BD}">
  <a:tblStyle styleId="{F00A905F-39DD-448F-8939-5F8EFAC5F3B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imelight-regular.fnt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7000" y="0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525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703263" y="1154113"/>
            <a:ext cx="5543550" cy="3117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"/>
          <p:cNvGrpSpPr/>
          <p:nvPr/>
        </p:nvGrpSpPr>
        <p:grpSpPr>
          <a:xfrm>
            <a:off x="47296" y="163048"/>
            <a:ext cx="12033088" cy="6425001"/>
            <a:chOff x="-1" y="54241"/>
            <a:chExt cx="6896746" cy="4138047"/>
          </a:xfrm>
        </p:grpSpPr>
        <p:sp>
          <p:nvSpPr>
            <p:cNvPr id="89" name="Google Shape;89;p1"/>
            <p:cNvSpPr/>
            <p:nvPr/>
          </p:nvSpPr>
          <p:spPr>
            <a:xfrm>
              <a:off x="-1" y="54241"/>
              <a:ext cx="6896746" cy="4138047"/>
            </a:xfrm>
            <a:prstGeom prst="downArrowCallout">
              <a:avLst>
                <a:gd fmla="val 53882" name="adj1"/>
                <a:gd fmla="val 44760" name="adj2"/>
                <a:gd fmla="val 12640" name="adj3"/>
                <a:gd fmla="val 64977" name="adj4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0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0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6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Instrumentos de control y consulta archivística de UTAPE</a:t>
              </a:r>
              <a:endParaRPr b="0" i="0" sz="60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90" name="Google Shape;90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88926" y="228429"/>
              <a:ext cx="1857634" cy="79910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618187" y="93298"/>
            <a:ext cx="11165982" cy="2096110"/>
            <a:chOff x="5133213" y="-378366"/>
            <a:chExt cx="4866468" cy="2661836"/>
          </a:xfrm>
        </p:grpSpPr>
        <p:sp>
          <p:nvSpPr>
            <p:cNvPr id="96" name="Google Shape;96;p2"/>
            <p:cNvSpPr/>
            <p:nvPr/>
          </p:nvSpPr>
          <p:spPr>
            <a:xfrm>
              <a:off x="5133213" y="-378366"/>
              <a:ext cx="4866468" cy="2661836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2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Cuadro General de Clasificación Archivística de UTAPE</a:t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97" name="Google Shape;9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07991" y="-251523"/>
              <a:ext cx="1225233" cy="12040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2"/>
          <p:cNvSpPr/>
          <p:nvPr/>
        </p:nvSpPr>
        <p:spPr>
          <a:xfrm>
            <a:off x="618186" y="4893972"/>
            <a:ext cx="11165982" cy="175988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Catálogo de Disposición Documental de UTAPE</a:t>
            </a:r>
            <a:endParaRPr b="0" i="0" sz="2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18185" y="2465402"/>
            <a:ext cx="11165983" cy="20296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Guía de Archivo Documental de UTAPE</a:t>
            </a:r>
            <a:endParaRPr b="0" i="0" sz="2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368" y="2532049"/>
            <a:ext cx="2811265" cy="948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0368" y="5048519"/>
            <a:ext cx="2811265" cy="948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3"/>
          <p:cNvGrpSpPr/>
          <p:nvPr/>
        </p:nvGrpSpPr>
        <p:grpSpPr>
          <a:xfrm>
            <a:off x="142106" y="238111"/>
            <a:ext cx="5614749" cy="6446023"/>
            <a:chOff x="240222" y="313050"/>
            <a:chExt cx="6054553" cy="4537099"/>
          </a:xfrm>
        </p:grpSpPr>
        <p:sp>
          <p:nvSpPr>
            <p:cNvPr id="107" name="Google Shape;107;p3"/>
            <p:cNvSpPr/>
            <p:nvPr/>
          </p:nvSpPr>
          <p:spPr>
            <a:xfrm>
              <a:off x="240222" y="313050"/>
              <a:ext cx="6054553" cy="453709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General del Archivo General del Poder Ejecutivo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6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del Archivo de Trámite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2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Archivo de trámite</a:t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08" name="Google Shape;10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9778" y="385570"/>
              <a:ext cx="2519938" cy="59385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3"/>
          <p:cNvGrpSpPr/>
          <p:nvPr/>
        </p:nvGrpSpPr>
        <p:grpSpPr>
          <a:xfrm>
            <a:off x="6257424" y="192888"/>
            <a:ext cx="5614749" cy="6446023"/>
            <a:chOff x="240222" y="313050"/>
            <a:chExt cx="6054553" cy="4537099"/>
          </a:xfrm>
        </p:grpSpPr>
        <p:sp>
          <p:nvSpPr>
            <p:cNvPr id="110" name="Google Shape;110;p3"/>
            <p:cNvSpPr/>
            <p:nvPr/>
          </p:nvSpPr>
          <p:spPr>
            <a:xfrm>
              <a:off x="240222" y="313050"/>
              <a:ext cx="6054553" cy="453709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General del Archivo General del Poder Ejecutivo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6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del Archivo de Trámite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2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Archivo de trámite</a:t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11" name="Google Shape;11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39778" y="385570"/>
              <a:ext cx="2519938" cy="5938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4"/>
          <p:cNvGrpSpPr/>
          <p:nvPr/>
        </p:nvGrpSpPr>
        <p:grpSpPr>
          <a:xfrm>
            <a:off x="142107" y="117726"/>
            <a:ext cx="11706456" cy="6553529"/>
            <a:chOff x="240222" y="313050"/>
            <a:chExt cx="6054553" cy="4537099"/>
          </a:xfrm>
        </p:grpSpPr>
        <p:sp>
          <p:nvSpPr>
            <p:cNvPr id="117" name="Google Shape;117;p4"/>
            <p:cNvSpPr/>
            <p:nvPr/>
          </p:nvSpPr>
          <p:spPr>
            <a:xfrm>
              <a:off x="240222" y="313050"/>
              <a:ext cx="6054553" cy="453709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0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40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0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General del Archivo General del Poder Ejecutivo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6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Dirección del Archivo de Trámite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32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Archivo de trámite</a:t>
              </a:r>
              <a:endParaRPr b="0" i="0" sz="32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53668" y="435673"/>
              <a:ext cx="2827663" cy="12403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5"/>
          <p:cNvGrpSpPr/>
          <p:nvPr/>
        </p:nvGrpSpPr>
        <p:grpSpPr>
          <a:xfrm>
            <a:off x="64378" y="22549"/>
            <a:ext cx="4340196" cy="2128225"/>
            <a:chOff x="642892" y="4694053"/>
            <a:chExt cx="4866468" cy="1584707"/>
          </a:xfrm>
        </p:grpSpPr>
        <p:sp>
          <p:nvSpPr>
            <p:cNvPr id="124" name="Google Shape;124;p5"/>
            <p:cNvSpPr/>
            <p:nvPr/>
          </p:nvSpPr>
          <p:spPr>
            <a:xfrm>
              <a:off x="642892" y="4694053"/>
              <a:ext cx="4866468" cy="1584707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1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25" name="Google Shape;12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9128" y="4757869"/>
              <a:ext cx="1260918" cy="4540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5"/>
          <p:cNvSpPr/>
          <p:nvPr/>
        </p:nvSpPr>
        <p:spPr>
          <a:xfrm>
            <a:off x="90136" y="2275050"/>
            <a:ext cx="4314438" cy="210348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Cajón 2</a:t>
            </a:r>
            <a:endParaRPr b="0" i="0" sz="24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pic>
        <p:nvPicPr>
          <p:cNvPr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406" y="2318837"/>
            <a:ext cx="1260918" cy="6097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5"/>
          <p:cNvGrpSpPr/>
          <p:nvPr/>
        </p:nvGrpSpPr>
        <p:grpSpPr>
          <a:xfrm>
            <a:off x="4466805" y="2259819"/>
            <a:ext cx="4314438" cy="2131049"/>
            <a:chOff x="115894" y="4548660"/>
            <a:chExt cx="4314438" cy="2131049"/>
          </a:xfrm>
        </p:grpSpPr>
        <p:sp>
          <p:nvSpPr>
            <p:cNvPr id="129" name="Google Shape;129;p5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B</a:t>
              </a:r>
              <a:endParaRPr b="0" i="0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1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30" name="Google Shape;13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44033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1" name="Google Shape;131;p5"/>
          <p:cNvGrpSpPr/>
          <p:nvPr/>
        </p:nvGrpSpPr>
        <p:grpSpPr>
          <a:xfrm>
            <a:off x="4466805" y="25758"/>
            <a:ext cx="4314438" cy="2131049"/>
            <a:chOff x="115894" y="4548660"/>
            <a:chExt cx="4314438" cy="2131049"/>
          </a:xfrm>
        </p:grpSpPr>
        <p:sp>
          <p:nvSpPr>
            <p:cNvPr id="132" name="Google Shape;132;p5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4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33" name="Google Shape;13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32149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5"/>
          <p:cNvGrpSpPr/>
          <p:nvPr/>
        </p:nvGrpSpPr>
        <p:grpSpPr>
          <a:xfrm>
            <a:off x="90136" y="4617120"/>
            <a:ext cx="4314438" cy="2131049"/>
            <a:chOff x="115894" y="4381398"/>
            <a:chExt cx="4314438" cy="2131049"/>
          </a:xfrm>
        </p:grpSpPr>
        <p:sp>
          <p:nvSpPr>
            <p:cNvPr id="135" name="Google Shape;135;p5"/>
            <p:cNvSpPr/>
            <p:nvPr/>
          </p:nvSpPr>
          <p:spPr>
            <a:xfrm>
              <a:off x="115894" y="4381398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3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36" name="Google Shape;13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344" y="4435171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5"/>
          <p:cNvGrpSpPr/>
          <p:nvPr/>
        </p:nvGrpSpPr>
        <p:grpSpPr>
          <a:xfrm>
            <a:off x="4466805" y="4634392"/>
            <a:ext cx="4314438" cy="2131049"/>
            <a:chOff x="115894" y="4548660"/>
            <a:chExt cx="4314438" cy="2131049"/>
          </a:xfrm>
        </p:grpSpPr>
        <p:sp>
          <p:nvSpPr>
            <p:cNvPr id="138" name="Google Shape;138;p5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2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39" name="Google Shape;139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15434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5"/>
          <p:cNvGrpSpPr/>
          <p:nvPr/>
        </p:nvGrpSpPr>
        <p:grpSpPr>
          <a:xfrm rot="-5400000">
            <a:off x="8510772" y="2046417"/>
            <a:ext cx="4340196" cy="2128225"/>
            <a:chOff x="642892" y="4694053"/>
            <a:chExt cx="4866468" cy="1584707"/>
          </a:xfrm>
        </p:grpSpPr>
        <p:sp>
          <p:nvSpPr>
            <p:cNvPr id="141" name="Google Shape;141;p5"/>
            <p:cNvSpPr/>
            <p:nvPr/>
          </p:nvSpPr>
          <p:spPr>
            <a:xfrm>
              <a:off x="642892" y="4694053"/>
              <a:ext cx="4866468" cy="1584707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3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42" name="Google Shape;14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9128" y="4757869"/>
              <a:ext cx="1260918" cy="4540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64378" y="22549"/>
            <a:ext cx="4340196" cy="2128225"/>
            <a:chOff x="642892" y="4694053"/>
            <a:chExt cx="4866468" cy="1584707"/>
          </a:xfrm>
        </p:grpSpPr>
        <p:sp>
          <p:nvSpPr>
            <p:cNvPr id="148" name="Google Shape;148;p6"/>
            <p:cNvSpPr/>
            <p:nvPr/>
          </p:nvSpPr>
          <p:spPr>
            <a:xfrm>
              <a:off x="642892" y="4694053"/>
              <a:ext cx="4866468" cy="1584707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B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3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49" name="Google Shape;14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9128" y="4757869"/>
              <a:ext cx="1260918" cy="4540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6"/>
          <p:cNvSpPr/>
          <p:nvPr/>
        </p:nvSpPr>
        <p:spPr>
          <a:xfrm>
            <a:off x="90136" y="2275050"/>
            <a:ext cx="4314438" cy="210348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 b="0" i="0" sz="4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Cajón 4</a:t>
            </a:r>
            <a:endParaRPr b="0" i="0" sz="24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406" y="2318837"/>
            <a:ext cx="1260918" cy="6097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6"/>
          <p:cNvGrpSpPr/>
          <p:nvPr/>
        </p:nvGrpSpPr>
        <p:grpSpPr>
          <a:xfrm>
            <a:off x="4466805" y="2259819"/>
            <a:ext cx="4314438" cy="2131049"/>
            <a:chOff x="115894" y="4548660"/>
            <a:chExt cx="4314438" cy="2131049"/>
          </a:xfrm>
        </p:grpSpPr>
        <p:sp>
          <p:nvSpPr>
            <p:cNvPr id="153" name="Google Shape;153;p6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3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54" name="Google Shape;154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44033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5" name="Google Shape;155;p6"/>
          <p:cNvGrpSpPr/>
          <p:nvPr/>
        </p:nvGrpSpPr>
        <p:grpSpPr>
          <a:xfrm>
            <a:off x="4466805" y="25758"/>
            <a:ext cx="4314438" cy="2131049"/>
            <a:chOff x="115894" y="4548660"/>
            <a:chExt cx="4314438" cy="2131049"/>
          </a:xfrm>
        </p:grpSpPr>
        <p:sp>
          <p:nvSpPr>
            <p:cNvPr id="156" name="Google Shape;156;p6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2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57" name="Google Shape;15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32149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8" name="Google Shape;158;p6"/>
          <p:cNvGrpSpPr/>
          <p:nvPr/>
        </p:nvGrpSpPr>
        <p:grpSpPr>
          <a:xfrm>
            <a:off x="90136" y="4617120"/>
            <a:ext cx="4314438" cy="2131049"/>
            <a:chOff x="115894" y="4381398"/>
            <a:chExt cx="4314438" cy="2131049"/>
          </a:xfrm>
        </p:grpSpPr>
        <p:sp>
          <p:nvSpPr>
            <p:cNvPr id="159" name="Google Shape;159;p6"/>
            <p:cNvSpPr/>
            <p:nvPr/>
          </p:nvSpPr>
          <p:spPr>
            <a:xfrm>
              <a:off x="115894" y="4381398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C</a:t>
              </a:r>
              <a:endParaRPr b="0" i="0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1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60" name="Google Shape;16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344" y="4435171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6"/>
          <p:cNvGrpSpPr/>
          <p:nvPr/>
        </p:nvGrpSpPr>
        <p:grpSpPr>
          <a:xfrm>
            <a:off x="4466805" y="4634392"/>
            <a:ext cx="4314438" cy="2131049"/>
            <a:chOff x="115894" y="4548660"/>
            <a:chExt cx="4314438" cy="2131049"/>
          </a:xfrm>
        </p:grpSpPr>
        <p:sp>
          <p:nvSpPr>
            <p:cNvPr id="162" name="Google Shape;162;p6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C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4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63" name="Google Shape;16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15434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4" name="Google Shape;164;p6"/>
          <p:cNvGrpSpPr/>
          <p:nvPr/>
        </p:nvGrpSpPr>
        <p:grpSpPr>
          <a:xfrm rot="-5400000">
            <a:off x="8304711" y="2192138"/>
            <a:ext cx="4314438" cy="2103484"/>
            <a:chOff x="90136" y="2275050"/>
            <a:chExt cx="4314438" cy="2103484"/>
          </a:xfrm>
        </p:grpSpPr>
        <p:sp>
          <p:nvSpPr>
            <p:cNvPr id="165" name="Google Shape;165;p6"/>
            <p:cNvSpPr/>
            <p:nvPr/>
          </p:nvSpPr>
          <p:spPr>
            <a:xfrm>
              <a:off x="90136" y="2275050"/>
              <a:ext cx="4314438" cy="210348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E</a:t>
              </a:r>
              <a:endParaRPr b="0" i="0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4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66" name="Google Shape;16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4406" y="2318837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7"/>
          <p:cNvGrpSpPr/>
          <p:nvPr/>
        </p:nvGrpSpPr>
        <p:grpSpPr>
          <a:xfrm>
            <a:off x="64378" y="22549"/>
            <a:ext cx="4340196" cy="2128225"/>
            <a:chOff x="642892" y="4694053"/>
            <a:chExt cx="4866468" cy="1584707"/>
          </a:xfrm>
        </p:grpSpPr>
        <p:sp>
          <p:nvSpPr>
            <p:cNvPr id="172" name="Google Shape;172;p7"/>
            <p:cNvSpPr/>
            <p:nvPr/>
          </p:nvSpPr>
          <p:spPr>
            <a:xfrm>
              <a:off x="642892" y="4694053"/>
              <a:ext cx="4866468" cy="1584707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1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73" name="Google Shape;17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89128" y="4757869"/>
              <a:ext cx="1260918" cy="45401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4" name="Google Shape;174;p7"/>
          <p:cNvSpPr/>
          <p:nvPr/>
        </p:nvSpPr>
        <p:spPr>
          <a:xfrm>
            <a:off x="90136" y="2275050"/>
            <a:ext cx="4314438" cy="210348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Cajón 2</a:t>
            </a:r>
            <a:endParaRPr b="0" i="0" sz="24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406" y="2318837"/>
            <a:ext cx="1260918" cy="6097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7"/>
          <p:cNvGrpSpPr/>
          <p:nvPr/>
        </p:nvGrpSpPr>
        <p:grpSpPr>
          <a:xfrm>
            <a:off x="4466805" y="2259819"/>
            <a:ext cx="4314438" cy="2131049"/>
            <a:chOff x="115894" y="4548660"/>
            <a:chExt cx="4314438" cy="2131049"/>
          </a:xfrm>
        </p:grpSpPr>
        <p:sp>
          <p:nvSpPr>
            <p:cNvPr id="177" name="Google Shape;177;p7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1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78" name="Google Shape;178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44033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p7"/>
          <p:cNvGrpSpPr/>
          <p:nvPr/>
        </p:nvGrpSpPr>
        <p:grpSpPr>
          <a:xfrm>
            <a:off x="4466805" y="25758"/>
            <a:ext cx="4314438" cy="2131049"/>
            <a:chOff x="115894" y="4548660"/>
            <a:chExt cx="4314438" cy="2131049"/>
          </a:xfrm>
        </p:grpSpPr>
        <p:sp>
          <p:nvSpPr>
            <p:cNvPr id="180" name="Google Shape;180;p7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4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81" name="Google Shape;18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32149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7"/>
          <p:cNvGrpSpPr/>
          <p:nvPr/>
        </p:nvGrpSpPr>
        <p:grpSpPr>
          <a:xfrm>
            <a:off x="90136" y="4617120"/>
            <a:ext cx="4314438" cy="2131049"/>
            <a:chOff x="115894" y="4381398"/>
            <a:chExt cx="4314438" cy="2131049"/>
          </a:xfrm>
        </p:grpSpPr>
        <p:sp>
          <p:nvSpPr>
            <p:cNvPr id="183" name="Google Shape;183;p7"/>
            <p:cNvSpPr/>
            <p:nvPr/>
          </p:nvSpPr>
          <p:spPr>
            <a:xfrm>
              <a:off x="115894" y="4381398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3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84" name="Google Shape;18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58344" y="4435171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7"/>
          <p:cNvGrpSpPr/>
          <p:nvPr/>
        </p:nvGrpSpPr>
        <p:grpSpPr>
          <a:xfrm>
            <a:off x="4466805" y="4634392"/>
            <a:ext cx="4314438" cy="2131049"/>
            <a:chOff x="115894" y="4548660"/>
            <a:chExt cx="4314438" cy="2131049"/>
          </a:xfrm>
        </p:grpSpPr>
        <p:sp>
          <p:nvSpPr>
            <p:cNvPr id="186" name="Google Shape;186;p7"/>
            <p:cNvSpPr/>
            <p:nvPr/>
          </p:nvSpPr>
          <p:spPr>
            <a:xfrm>
              <a:off x="115894" y="4548660"/>
              <a:ext cx="4314438" cy="2131049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Archivero 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MX" sz="4800" u="none" cap="none" strike="noStrike">
                  <a:solidFill>
                    <a:schemeClr val="dk1"/>
                  </a:solidFill>
                  <a:latin typeface="Limelight"/>
                  <a:ea typeface="Limelight"/>
                  <a:cs typeface="Limelight"/>
                  <a:sym typeface="Limelight"/>
                </a:rPr>
                <a:t>Cajón 2</a:t>
              </a:r>
              <a:endParaRPr b="0" i="0" sz="24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</p:txBody>
        </p:sp>
        <p:pic>
          <p:nvPicPr>
            <p:cNvPr id="187" name="Google Shape;18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2654" y="4615434"/>
              <a:ext cx="1260918" cy="6097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p7"/>
          <p:cNvSpPr/>
          <p:nvPr/>
        </p:nvSpPr>
        <p:spPr>
          <a:xfrm rot="-5400000">
            <a:off x="8304711" y="2192138"/>
            <a:ext cx="4314438" cy="210348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chemeClr val="dk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4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REPISA DAT</a:t>
            </a:r>
            <a:endParaRPr/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9128383" y="3091503"/>
            <a:ext cx="1260918" cy="609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8"/>
          <p:cNvGrpSpPr/>
          <p:nvPr/>
        </p:nvGrpSpPr>
        <p:grpSpPr>
          <a:xfrm>
            <a:off x="97234" y="51516"/>
            <a:ext cx="7578574" cy="3090929"/>
            <a:chOff x="97234" y="51516"/>
            <a:chExt cx="6844480" cy="3219718"/>
          </a:xfrm>
        </p:grpSpPr>
        <p:sp>
          <p:nvSpPr>
            <p:cNvPr id="195" name="Google Shape;195;p8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196" name="Google Shape;196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197" name="Google Shape;197;p8"/>
          <p:cNvGraphicFramePr/>
          <p:nvPr/>
        </p:nvGraphicFramePr>
        <p:xfrm>
          <a:off x="148749" y="844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95500"/>
                <a:gridCol w="4789900"/>
              </a:tblGrid>
              <a:tr h="3009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2019, 2020 y 2021  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4685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36. Asesoría en materia de archivos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5136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UTAPE.0/3.1/36.0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71775">
                <a:tc row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sng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y 02/2019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898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sng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al 04/2020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983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sng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al 04/2021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198" name="Google Shape;198;p8"/>
          <p:cNvSpPr/>
          <p:nvPr/>
        </p:nvSpPr>
        <p:spPr>
          <a:xfrm>
            <a:off x="5001338" y="164820"/>
            <a:ext cx="1631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8"/>
          <p:cNvGrpSpPr/>
          <p:nvPr/>
        </p:nvGrpSpPr>
        <p:grpSpPr>
          <a:xfrm>
            <a:off x="97234" y="3333480"/>
            <a:ext cx="7578574" cy="3402171"/>
            <a:chOff x="97234" y="51516"/>
            <a:chExt cx="6844480" cy="3219718"/>
          </a:xfrm>
        </p:grpSpPr>
        <p:sp>
          <p:nvSpPr>
            <p:cNvPr id="200" name="Google Shape;200;p8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01" name="Google Shape;20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02" name="Google Shape;202;p8"/>
          <p:cNvSpPr/>
          <p:nvPr/>
        </p:nvSpPr>
        <p:spPr>
          <a:xfrm>
            <a:off x="5143005" y="3393401"/>
            <a:ext cx="1631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8"/>
          <p:cNvGraphicFramePr/>
          <p:nvPr/>
        </p:nvGraphicFramePr>
        <p:xfrm>
          <a:off x="51512" y="39820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279575"/>
                <a:gridCol w="5228825"/>
              </a:tblGrid>
              <a:tr h="420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2020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8672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y </a:t>
                      </a: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38. Instrumentos de Control y Consulta Archivística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7002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r>
                        <a:rPr b="1" i="1" lang="es-MX" sz="18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 y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UTAPE.0/3.1/38.0</a:t>
                      </a:r>
                      <a:endParaRPr b="1" i="1" sz="1800" u="none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369675">
                <a:tc rowSpan="2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2: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UTAPE.0/3.1/37.0–</a:t>
                      </a:r>
                      <a:r>
                        <a:rPr b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05 al 67/2020</a:t>
                      </a:r>
                      <a:endParaRPr b="1" sz="1800" u="sng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3571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UTAPE.0/3.1/38.0 – </a:t>
                      </a: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1, 3, 4,5/2020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9"/>
          <p:cNvGrpSpPr/>
          <p:nvPr/>
        </p:nvGrpSpPr>
        <p:grpSpPr>
          <a:xfrm>
            <a:off x="97233" y="51516"/>
            <a:ext cx="7552817" cy="2897746"/>
            <a:chOff x="97234" y="51516"/>
            <a:chExt cx="6844480" cy="3219718"/>
          </a:xfrm>
        </p:grpSpPr>
        <p:sp>
          <p:nvSpPr>
            <p:cNvPr id="209" name="Google Shape;209;p9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10" name="Google Shape;21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11" name="Google Shape;211;p9"/>
          <p:cNvGraphicFramePr/>
          <p:nvPr/>
        </p:nvGraphicFramePr>
        <p:xfrm>
          <a:off x="195542" y="785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618125"/>
                <a:gridCol w="4831650"/>
              </a:tblGrid>
              <a:tr h="3116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2020 y 2021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38. Instrumentos de Control y Consulta Archivística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6268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UTAPE.0/3.1/38.0</a:t>
                      </a:r>
                      <a:endParaRPr b="1" i="1" sz="1800" u="none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128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3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13, 14, 16, 19/ 2020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Y 05/2021</a:t>
                      </a:r>
                      <a:endParaRPr b="1" i="1" sz="1800" u="sng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12" name="Google Shape;212;p9"/>
          <p:cNvSpPr/>
          <p:nvPr/>
        </p:nvSpPr>
        <p:spPr>
          <a:xfrm>
            <a:off x="5001338" y="164820"/>
            <a:ext cx="1631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9"/>
          <p:cNvGrpSpPr/>
          <p:nvPr/>
        </p:nvGrpSpPr>
        <p:grpSpPr>
          <a:xfrm>
            <a:off x="187385" y="3387144"/>
            <a:ext cx="7552817" cy="2897746"/>
            <a:chOff x="97234" y="51516"/>
            <a:chExt cx="6844480" cy="3219718"/>
          </a:xfrm>
        </p:grpSpPr>
        <p:sp>
          <p:nvSpPr>
            <p:cNvPr id="214" name="Google Shape;214;p9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15" name="Google Shape;21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16" name="Google Shape;216;p9"/>
          <p:cNvGraphicFramePr/>
          <p:nvPr/>
        </p:nvGraphicFramePr>
        <p:xfrm>
          <a:off x="285694" y="4243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618125"/>
                <a:gridCol w="4831650"/>
              </a:tblGrid>
              <a:tr h="2471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647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798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al 27/ 2019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17" name="Google Shape;217;p9"/>
          <p:cNvSpPr/>
          <p:nvPr/>
        </p:nvSpPr>
        <p:spPr>
          <a:xfrm>
            <a:off x="5091490" y="3500448"/>
            <a:ext cx="1616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148750" y="126641"/>
            <a:ext cx="7552816" cy="3105957"/>
            <a:chOff x="97234" y="51516"/>
            <a:chExt cx="6844480" cy="3219718"/>
          </a:xfrm>
        </p:grpSpPr>
        <p:sp>
          <p:nvSpPr>
            <p:cNvPr id="223" name="Google Shape;223;p10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24" name="Google Shape;22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25" name="Google Shape;225;p10"/>
          <p:cNvSpPr/>
          <p:nvPr/>
        </p:nvSpPr>
        <p:spPr>
          <a:xfrm>
            <a:off x="5194521" y="186562"/>
            <a:ext cx="1616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10"/>
          <p:cNvGraphicFramePr/>
          <p:nvPr/>
        </p:nvGraphicFramePr>
        <p:xfrm>
          <a:off x="103028" y="7752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670400"/>
                <a:gridCol w="4928125"/>
              </a:tblGrid>
              <a:tr h="3610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539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6439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623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2: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28 al 60/2019</a:t>
                      </a:r>
                      <a:endParaRPr b="1" i="1" sz="1800" u="sng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pSp>
        <p:nvGrpSpPr>
          <p:cNvPr id="227" name="Google Shape;227;p10"/>
          <p:cNvGrpSpPr/>
          <p:nvPr/>
        </p:nvGrpSpPr>
        <p:grpSpPr>
          <a:xfrm>
            <a:off x="148750" y="3400023"/>
            <a:ext cx="7552816" cy="3219718"/>
            <a:chOff x="97234" y="51516"/>
            <a:chExt cx="6844480" cy="3219718"/>
          </a:xfrm>
        </p:grpSpPr>
        <p:sp>
          <p:nvSpPr>
            <p:cNvPr id="228" name="Google Shape;228;p10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29" name="Google Shape;229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30" name="Google Shape;230;p10"/>
          <p:cNvGraphicFramePr/>
          <p:nvPr/>
        </p:nvGraphicFramePr>
        <p:xfrm>
          <a:off x="200267" y="4193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635725"/>
                <a:gridCol w="4864125"/>
              </a:tblGrid>
              <a:tr h="2471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 y 2020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647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169275">
                <a:tc row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3: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61 al 68/ 2019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307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1, 2, 3, 4, 6 y 68/2021</a:t>
                      </a:r>
                      <a:endParaRPr b="1" i="1" sz="1800" u="sng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3071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 al 10/ 2021</a:t>
                      </a:r>
                      <a:endParaRPr b="1" i="1" sz="1800" u="sng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31" name="Google Shape;231;p10"/>
          <p:cNvSpPr/>
          <p:nvPr/>
        </p:nvSpPr>
        <p:spPr>
          <a:xfrm>
            <a:off x="5052855" y="3513327"/>
            <a:ext cx="1662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11"/>
          <p:cNvGrpSpPr/>
          <p:nvPr/>
        </p:nvGrpSpPr>
        <p:grpSpPr>
          <a:xfrm>
            <a:off x="97233" y="51516"/>
            <a:ext cx="7346755" cy="3219718"/>
            <a:chOff x="97234" y="51516"/>
            <a:chExt cx="6844480" cy="3219718"/>
          </a:xfrm>
        </p:grpSpPr>
        <p:sp>
          <p:nvSpPr>
            <p:cNvPr id="237" name="Google Shape;237;p11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38" name="Google Shape;23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39" name="Google Shape;239;p11"/>
          <p:cNvGraphicFramePr/>
          <p:nvPr/>
        </p:nvGraphicFramePr>
        <p:xfrm>
          <a:off x="148750" y="844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63825"/>
                <a:gridCol w="4731425"/>
              </a:tblGrid>
              <a:tr h="2471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2019 y 2020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647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783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4: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11 al 38/ 2021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40" name="Google Shape;240;p11"/>
          <p:cNvSpPr/>
          <p:nvPr/>
        </p:nvSpPr>
        <p:spPr>
          <a:xfrm>
            <a:off x="5001338" y="164820"/>
            <a:ext cx="16168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11"/>
          <p:cNvGrpSpPr/>
          <p:nvPr/>
        </p:nvGrpSpPr>
        <p:grpSpPr>
          <a:xfrm>
            <a:off x="97233" y="3438660"/>
            <a:ext cx="7346755" cy="3219718"/>
            <a:chOff x="97234" y="51516"/>
            <a:chExt cx="6844480" cy="3219718"/>
          </a:xfrm>
        </p:grpSpPr>
        <p:sp>
          <p:nvSpPr>
            <p:cNvPr id="242" name="Google Shape;242;p11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43" name="Google Shape;24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44" name="Google Shape;244;p11"/>
          <p:cNvGraphicFramePr/>
          <p:nvPr/>
        </p:nvGraphicFramePr>
        <p:xfrm>
          <a:off x="148750" y="42319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63825"/>
                <a:gridCol w="4731425"/>
              </a:tblGrid>
              <a:tr h="2471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2021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647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925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7835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39 AL 70/ 2021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45" name="Google Shape;245;p11"/>
          <p:cNvSpPr/>
          <p:nvPr/>
        </p:nvSpPr>
        <p:spPr>
          <a:xfrm>
            <a:off x="5001338" y="3551964"/>
            <a:ext cx="1672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C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12"/>
          <p:cNvGrpSpPr/>
          <p:nvPr/>
        </p:nvGrpSpPr>
        <p:grpSpPr>
          <a:xfrm>
            <a:off x="97234" y="3333480"/>
            <a:ext cx="7346754" cy="3105957"/>
            <a:chOff x="97234" y="51516"/>
            <a:chExt cx="6844480" cy="3219718"/>
          </a:xfrm>
        </p:grpSpPr>
        <p:sp>
          <p:nvSpPr>
            <p:cNvPr id="251" name="Google Shape;251;p12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52" name="Google Shape;25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53" name="Google Shape;253;p12"/>
          <p:cNvSpPr/>
          <p:nvPr/>
        </p:nvSpPr>
        <p:spPr>
          <a:xfrm>
            <a:off x="5143005" y="3393401"/>
            <a:ext cx="1615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2"/>
          <p:cNvGrpSpPr/>
          <p:nvPr/>
        </p:nvGrpSpPr>
        <p:grpSpPr>
          <a:xfrm>
            <a:off x="97233" y="51516"/>
            <a:ext cx="7346755" cy="3219718"/>
            <a:chOff x="97234" y="51516"/>
            <a:chExt cx="6844480" cy="3219718"/>
          </a:xfrm>
        </p:grpSpPr>
        <p:sp>
          <p:nvSpPr>
            <p:cNvPr id="255" name="Google Shape;255;p12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56" name="Google Shape;25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57" name="Google Shape;257;p12"/>
          <p:cNvGraphicFramePr/>
          <p:nvPr/>
        </p:nvGraphicFramePr>
        <p:xfrm>
          <a:off x="97232" y="748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305625"/>
                <a:gridCol w="5041125"/>
              </a:tblGrid>
              <a:tr h="3912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2020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186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38. Instrumentos de Control y Consulta Archivística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5745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74550">
                <a:tc rowSpan="3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2: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2,4, 6, 7, 10, 11, 12,14, 15,17/2020</a:t>
                      </a:r>
                      <a:endParaRPr b="1" i="1" sz="1800" u="sng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313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2, 3, 7,9. 10,11, 12/2021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745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F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 AL 5/2022</a:t>
                      </a:r>
                      <a:endParaRPr b="1" i="1" sz="1800" u="sng" cap="none" strike="noStrike">
                        <a:solidFill>
                          <a:srgbClr val="00B0F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258" name="Google Shape;258;p12"/>
          <p:cNvGraphicFramePr/>
          <p:nvPr/>
        </p:nvGraphicFramePr>
        <p:xfrm>
          <a:off x="97233" y="41742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63825"/>
                <a:gridCol w="4731425"/>
              </a:tblGrid>
              <a:tr h="2652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342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470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492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3: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sng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 AL 9/ 2022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59" name="Google Shape;259;p12"/>
          <p:cNvSpPr/>
          <p:nvPr/>
        </p:nvSpPr>
        <p:spPr>
          <a:xfrm>
            <a:off x="5001338" y="164820"/>
            <a:ext cx="1615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" name="Google Shape;264;p13"/>
          <p:cNvGrpSpPr/>
          <p:nvPr/>
        </p:nvGrpSpPr>
        <p:grpSpPr>
          <a:xfrm>
            <a:off x="97234" y="3333480"/>
            <a:ext cx="7346754" cy="3105957"/>
            <a:chOff x="97234" y="51516"/>
            <a:chExt cx="6844480" cy="3219718"/>
          </a:xfrm>
        </p:grpSpPr>
        <p:sp>
          <p:nvSpPr>
            <p:cNvPr id="265" name="Google Shape;265;p13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66" name="Google Shape;266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67" name="Google Shape;267;p13"/>
          <p:cNvSpPr/>
          <p:nvPr/>
        </p:nvSpPr>
        <p:spPr>
          <a:xfrm>
            <a:off x="5143005" y="3393401"/>
            <a:ext cx="1624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13"/>
          <p:cNvGraphicFramePr/>
          <p:nvPr/>
        </p:nvGraphicFramePr>
        <p:xfrm>
          <a:off x="51512" y="39820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52725"/>
                <a:gridCol w="4710950"/>
              </a:tblGrid>
              <a:tr h="3912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5388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5745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5341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cap="none" strike="noStrike"/>
                        <a:t> </a:t>
                      </a: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 al 49/2022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pSp>
        <p:nvGrpSpPr>
          <p:cNvPr id="269" name="Google Shape;269;p13"/>
          <p:cNvGrpSpPr/>
          <p:nvPr/>
        </p:nvGrpSpPr>
        <p:grpSpPr>
          <a:xfrm>
            <a:off x="97233" y="51516"/>
            <a:ext cx="7346755" cy="3219718"/>
            <a:chOff x="97234" y="51516"/>
            <a:chExt cx="6844480" cy="3219718"/>
          </a:xfrm>
        </p:grpSpPr>
        <p:sp>
          <p:nvSpPr>
            <p:cNvPr id="270" name="Google Shape;270;p13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71" name="Google Shape;27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72" name="Google Shape;272;p13"/>
          <p:cNvGraphicFramePr/>
          <p:nvPr/>
        </p:nvGraphicFramePr>
        <p:xfrm>
          <a:off x="148750" y="844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272475"/>
                <a:gridCol w="5022750"/>
              </a:tblGrid>
              <a:tr h="2652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342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6470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7321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4: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 AL 49/ 2022</a:t>
                      </a:r>
                      <a:endParaRPr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73" name="Google Shape;273;p13"/>
          <p:cNvSpPr/>
          <p:nvPr/>
        </p:nvSpPr>
        <p:spPr>
          <a:xfrm>
            <a:off x="5001338" y="164820"/>
            <a:ext cx="1615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14"/>
          <p:cNvGrpSpPr/>
          <p:nvPr/>
        </p:nvGrpSpPr>
        <p:grpSpPr>
          <a:xfrm>
            <a:off x="148750" y="281187"/>
            <a:ext cx="7346754" cy="2616559"/>
            <a:chOff x="97234" y="51516"/>
            <a:chExt cx="6844480" cy="3219718"/>
          </a:xfrm>
        </p:grpSpPr>
        <p:sp>
          <p:nvSpPr>
            <p:cNvPr id="279" name="Google Shape;279;p14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80" name="Google Shape;28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281" name="Google Shape;281;p14"/>
          <p:cNvSpPr/>
          <p:nvPr/>
        </p:nvSpPr>
        <p:spPr>
          <a:xfrm>
            <a:off x="5194521" y="341107"/>
            <a:ext cx="16248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Archivero 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4"/>
          <p:cNvGraphicFramePr/>
          <p:nvPr/>
        </p:nvGraphicFramePr>
        <p:xfrm>
          <a:off x="103028" y="916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292450"/>
                <a:gridCol w="4971250"/>
              </a:tblGrid>
              <a:tr h="3912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5388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37. Supervisión de archivos de trámite </a:t>
                      </a:r>
                      <a:endParaRPr b="1" i="1" sz="18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5745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Bookman Old Style"/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UTAPE.0/3.1/37.0 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2702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2:</a:t>
                      </a:r>
                      <a:endParaRPr b="0" i="1" sz="1600" u="none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00B05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50 AL 68/2022</a:t>
                      </a:r>
                      <a:endParaRPr b="1" i="1" sz="1800" u="none" cap="none" strike="noStrike">
                        <a:solidFill>
                          <a:srgbClr val="00B05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pSp>
        <p:nvGrpSpPr>
          <p:cNvPr id="283" name="Google Shape;283;p14"/>
          <p:cNvGrpSpPr/>
          <p:nvPr/>
        </p:nvGrpSpPr>
        <p:grpSpPr>
          <a:xfrm>
            <a:off x="148750" y="3133858"/>
            <a:ext cx="7346754" cy="3105957"/>
            <a:chOff x="97234" y="51516"/>
            <a:chExt cx="6844480" cy="3219718"/>
          </a:xfrm>
        </p:grpSpPr>
        <p:sp>
          <p:nvSpPr>
            <p:cNvPr id="284" name="Google Shape;284;p14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85" name="Google Shape;285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86" name="Google Shape;286;p14"/>
          <p:cNvGraphicFramePr/>
          <p:nvPr/>
        </p:nvGraphicFramePr>
        <p:xfrm>
          <a:off x="148750" y="3807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95500"/>
                <a:gridCol w="4789900"/>
              </a:tblGrid>
              <a:tr h="3009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685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36. Asesoría en materia de archivos</a:t>
                      </a:r>
                      <a:endParaRPr b="1" i="1" sz="1800" u="none" cap="none" strike="noStrike">
                        <a:solidFill>
                          <a:srgbClr val="7F600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5136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UTAPE.0/3.1/36.0</a:t>
                      </a:r>
                      <a:endParaRPr/>
                    </a:p>
                  </a:txBody>
                  <a:tcPr marT="9525" marB="0" marR="9525" marL="9525" anchor="ctr"/>
                </a:tc>
              </a:tr>
              <a:tr h="85992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sng" cap="none" strike="noStrike">
                          <a:solidFill>
                            <a:srgbClr val="7F600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AL 04/ 2022</a:t>
                      </a:r>
                      <a:endParaRPr b="1" sz="1800" u="sng" cap="none" strike="noStrike">
                        <a:solidFill>
                          <a:srgbClr val="7F600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87" name="Google Shape;287;p14"/>
          <p:cNvSpPr/>
          <p:nvPr/>
        </p:nvSpPr>
        <p:spPr>
          <a:xfrm>
            <a:off x="5001339" y="3127267"/>
            <a:ext cx="16401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REPISA DAT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5"/>
          <p:cNvGrpSpPr/>
          <p:nvPr/>
        </p:nvGrpSpPr>
        <p:grpSpPr>
          <a:xfrm>
            <a:off x="180304" y="126404"/>
            <a:ext cx="7346754" cy="2822857"/>
            <a:chOff x="97234" y="51516"/>
            <a:chExt cx="6844480" cy="3219718"/>
          </a:xfrm>
        </p:grpSpPr>
        <p:sp>
          <p:nvSpPr>
            <p:cNvPr id="293" name="Google Shape;293;p15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94" name="Google Shape;29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295" name="Google Shape;295;p15"/>
          <p:cNvGraphicFramePr/>
          <p:nvPr/>
        </p:nvGraphicFramePr>
        <p:xfrm>
          <a:off x="-38637" y="9157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95500"/>
                <a:gridCol w="4789900"/>
              </a:tblGrid>
              <a:tr h="2747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400" u="sng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400" u="sng" cap="none" strike="noStrike">
                        <a:solidFill>
                          <a:schemeClr val="dk1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096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Serie: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833C0B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14. Requerimientos administrativos</a:t>
                      </a:r>
                      <a:endParaRPr b="1" i="1" sz="1800" u="none" cap="none" strike="noStrike">
                        <a:solidFill>
                          <a:srgbClr val="833C0B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4490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Clave de clasificación archivística: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1800" u="none" cap="none" strike="noStrike">
                          <a:solidFill>
                            <a:srgbClr val="833C0B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UTAPE.0/3.1/14.0</a:t>
                      </a:r>
                      <a:endParaRPr b="1" i="1" sz="1800" u="none" cap="none" strike="noStrike">
                        <a:solidFill>
                          <a:srgbClr val="833C0B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7517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chemeClr val="dk1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Cajón 1: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sng" cap="none" strike="noStrike">
                          <a:solidFill>
                            <a:srgbClr val="833C0B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01 AL 03/2022</a:t>
                      </a:r>
                      <a:endParaRPr b="1" sz="1800" u="sng" cap="none" strike="noStrike">
                        <a:solidFill>
                          <a:srgbClr val="833C0B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296" name="Google Shape;296;p15"/>
          <p:cNvSpPr/>
          <p:nvPr/>
        </p:nvSpPr>
        <p:spPr>
          <a:xfrm>
            <a:off x="5226453" y="178939"/>
            <a:ext cx="16401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REPISA DAT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7" name="Google Shape;297;p15"/>
          <p:cNvGrpSpPr/>
          <p:nvPr/>
        </p:nvGrpSpPr>
        <p:grpSpPr>
          <a:xfrm>
            <a:off x="180304" y="3615556"/>
            <a:ext cx="7346754" cy="2822857"/>
            <a:chOff x="97234" y="51516"/>
            <a:chExt cx="6844480" cy="3219718"/>
          </a:xfrm>
        </p:grpSpPr>
        <p:sp>
          <p:nvSpPr>
            <p:cNvPr id="298" name="Google Shape;298;p15"/>
            <p:cNvSpPr/>
            <p:nvPr/>
          </p:nvSpPr>
          <p:spPr>
            <a:xfrm>
              <a:off x="97234" y="51516"/>
              <a:ext cx="6844480" cy="321971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  <p:pic>
          <p:nvPicPr>
            <p:cNvPr id="299" name="Google Shape;2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17277" y="111437"/>
              <a:ext cx="1765795" cy="63708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graphicFrame>
        <p:nvGraphicFramePr>
          <p:cNvPr id="300" name="Google Shape;300;p15"/>
          <p:cNvGraphicFramePr/>
          <p:nvPr/>
        </p:nvGraphicFramePr>
        <p:xfrm>
          <a:off x="240083" y="42815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{F00A905F-39DD-448F-8939-5F8EFAC5F3BD}</a:tableStyleId>
              </a:tblPr>
              <a:tblGrid>
                <a:gridCol w="2539900"/>
                <a:gridCol w="4687300"/>
              </a:tblGrid>
              <a:tr h="334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s-MX" sz="1600" u="none" cap="none" strike="noStrike">
                          <a:solidFill>
                            <a:srgbClr val="7030A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Anualidad: </a:t>
                      </a:r>
                      <a:endParaRPr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2800" u="sng" cap="none" strike="noStrike">
                          <a:solidFill>
                            <a:srgbClr val="7030A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2022</a:t>
                      </a:r>
                      <a:endParaRPr b="1" i="1" sz="2800" u="sng" cap="none" strike="noStrike">
                        <a:solidFill>
                          <a:srgbClr val="7030A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</a:tr>
              <a:tr h="17155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s-MX" sz="3600" u="none" cap="none" strike="noStrike">
                          <a:solidFill>
                            <a:srgbClr val="7030A0"/>
                          </a:solidFill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Materia de la Coordinación de Archivos de UTAPE</a:t>
                      </a:r>
                      <a:endParaRPr b="1" i="1" sz="3600" u="none" cap="none" strike="noStrike">
                        <a:solidFill>
                          <a:srgbClr val="7030A0"/>
                        </a:solidFill>
                        <a:latin typeface="Bookman Old Style"/>
                        <a:ea typeface="Bookman Old Style"/>
                        <a:cs typeface="Bookman Old Style"/>
                        <a:sym typeface="Bookman Old Style"/>
                      </a:endParaRPr>
                    </a:p>
                  </a:txBody>
                  <a:tcPr marT="9525" marB="0" marR="9525" marL="9525" anchor="ctr"/>
                </a:tc>
                <a:tc hMerge="1"/>
              </a:tr>
            </a:tbl>
          </a:graphicData>
        </a:graphic>
      </p:graphicFrame>
      <p:sp>
        <p:nvSpPr>
          <p:cNvPr id="301" name="Google Shape;301;p15"/>
          <p:cNvSpPr/>
          <p:nvPr/>
        </p:nvSpPr>
        <p:spPr>
          <a:xfrm>
            <a:off x="5752340" y="3604381"/>
            <a:ext cx="16401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rPr>
              <a:t>REPISA DAT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1600330" y="221724"/>
            <a:ext cx="8553164" cy="948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Dirección General del Archivo General del Poder Ejecutivo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Dirección del Archivo de Trámite</a:t>
            </a:r>
            <a:endParaRPr b="1" sz="2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34341" y="1170612"/>
            <a:ext cx="5655938" cy="568738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 rot="-5400000">
            <a:off x="18600" y="1186325"/>
            <a:ext cx="5687388" cy="5655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1128386" y="5534419"/>
            <a:ext cx="912892" cy="128482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 rot="-5400000">
            <a:off x="986971" y="5764932"/>
            <a:ext cx="1195701" cy="823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Archivero A,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cajones</a:t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3370265" y="6121831"/>
            <a:ext cx="2320014" cy="1461660"/>
          </a:xfrm>
          <a:prstGeom prst="blockArc">
            <a:avLst>
              <a:gd fmla="val 10660566" name="adj1"/>
              <a:gd fmla="val 21516665" name="adj2"/>
              <a:gd fmla="val 32184" name="adj3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 rot="214278">
            <a:off x="3641535" y="6291102"/>
            <a:ext cx="1777474" cy="112312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l"/>
            <a:r>
              <a:rPr b="0" i="0">
                <a:ln>
                  <a:noFill/>
                </a:ln>
                <a:solidFill>
                  <a:schemeClr val="dk1"/>
                </a:solidFill>
                <a:latin typeface="Arial Black"/>
              </a:rPr>
              <a:t>A C C E S O</a:t>
            </a:r>
          </a:p>
        </p:txBody>
      </p:sp>
      <p:sp>
        <p:nvSpPr>
          <p:cNvPr id="313" name="Google Shape;313;p16"/>
          <p:cNvSpPr txBox="1"/>
          <p:nvPr/>
        </p:nvSpPr>
        <p:spPr>
          <a:xfrm rot="-5400000">
            <a:off x="-2092950" y="3462352"/>
            <a:ext cx="5544239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Archiveros  para el Archivo de Trámite de la DAT</a:t>
            </a:r>
            <a:endParaRPr b="1" sz="32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1143884" y="4222775"/>
            <a:ext cx="912893" cy="124796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 rot="-5400000">
            <a:off x="1020904" y="4434873"/>
            <a:ext cx="1158834" cy="823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Archivero B,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cajones</a:t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1143884" y="2817660"/>
            <a:ext cx="912893" cy="1267648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 rot="-5400000">
            <a:off x="1011061" y="3039591"/>
            <a:ext cx="1178520" cy="823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Archivero C,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cajones</a:t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1143881" y="1461034"/>
            <a:ext cx="912895" cy="124814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 rot="-5400000">
            <a:off x="1020816" y="1673211"/>
            <a:ext cx="1159012" cy="823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Archivero D,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cajones</a:t>
            </a:r>
            <a:endParaRPr/>
          </a:p>
        </p:txBody>
      </p:sp>
      <p:sp>
        <p:nvSpPr>
          <p:cNvPr id="320" name="Google Shape;320;p16"/>
          <p:cNvSpPr/>
          <p:nvPr/>
        </p:nvSpPr>
        <p:spPr>
          <a:xfrm rot="-5400000">
            <a:off x="2787633" y="2123793"/>
            <a:ext cx="2496946" cy="988332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Mesa de trabajo</a:t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9506607" y="80787"/>
            <a:ext cx="2602995" cy="7253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Plano topográfico</a:t>
            </a:r>
            <a:endParaRPr/>
          </a:p>
        </p:txBody>
      </p:sp>
      <p:sp>
        <p:nvSpPr>
          <p:cNvPr id="322" name="Google Shape;322;p16"/>
          <p:cNvSpPr txBox="1"/>
          <p:nvPr/>
        </p:nvSpPr>
        <p:spPr>
          <a:xfrm>
            <a:off x="5788070" y="1272875"/>
            <a:ext cx="6359270" cy="160043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*</a:t>
            </a:r>
            <a:r>
              <a:rPr lang="es-MX" sz="1400">
                <a:solidFill>
                  <a:srgbClr val="000000"/>
                </a:solidFill>
                <a:latin typeface="Limelight"/>
                <a:ea typeface="Limelight"/>
                <a:cs typeface="Limelight"/>
                <a:sym typeface="Limelight"/>
              </a:rPr>
              <a:t>Archivero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7F6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36. Asesoría en materia de archivos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7F6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2019,2020, 2021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37. Supervisión de archivos de trámite 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2020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i="1" lang="es-MX" sz="1400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38. Instrumentos de Control y Consulta Archivística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2020 y 2021</a:t>
            </a:r>
            <a:endParaRPr b="1" i="1" sz="1400">
              <a:solidFill>
                <a:srgbClr val="00B0F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23" name="Google Shape;3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997" y="66097"/>
            <a:ext cx="1815359" cy="106434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6"/>
          <p:cNvSpPr txBox="1"/>
          <p:nvPr/>
        </p:nvSpPr>
        <p:spPr>
          <a:xfrm>
            <a:off x="5806972" y="3097930"/>
            <a:ext cx="6359270" cy="738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*</a:t>
            </a:r>
            <a:r>
              <a:rPr lang="es-MX" sz="1400">
                <a:solidFill>
                  <a:srgbClr val="000000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37. Supervisión de archivos de trámite 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2019, 2020 Y 2021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5788070" y="4085308"/>
            <a:ext cx="6359270" cy="11695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*</a:t>
            </a:r>
            <a:r>
              <a:rPr lang="es-MX" sz="1400">
                <a:solidFill>
                  <a:srgbClr val="000000"/>
                </a:solidFill>
                <a:latin typeface="Limelight"/>
                <a:ea typeface="Limelight"/>
                <a:cs typeface="Limelight"/>
                <a:sym typeface="Limelight"/>
              </a:rPr>
              <a:t>Archivero 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37. Supervisión de archivos de trámite 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2021 Y 2022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i="1" lang="es-MX" sz="1400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38. Instrumentos de Control y Consulta Archivística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F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2020, 2021 Y 2022</a:t>
            </a:r>
            <a:endParaRPr b="1" i="1" sz="1400">
              <a:solidFill>
                <a:srgbClr val="00B0F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5788070" y="5534419"/>
            <a:ext cx="6359270" cy="73866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>
                <a:solidFill>
                  <a:srgbClr val="FF0000"/>
                </a:solidFill>
                <a:latin typeface="Limelight"/>
                <a:ea typeface="Limelight"/>
                <a:cs typeface="Limelight"/>
                <a:sym typeface="Limelight"/>
              </a:rPr>
              <a:t>*</a:t>
            </a:r>
            <a:r>
              <a:rPr lang="es-MX" sz="1400">
                <a:solidFill>
                  <a:srgbClr val="000000"/>
                </a:solidFill>
                <a:latin typeface="Limelight"/>
                <a:ea typeface="Limelight"/>
                <a:cs typeface="Limelight"/>
                <a:sym typeface="Limelight"/>
              </a:rPr>
              <a:t>Archivero 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37. Supervisión de archivos de trámite </a:t>
            </a:r>
            <a:endParaRPr b="1" i="1" sz="1400">
              <a:solidFill>
                <a:srgbClr val="00B05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MX" sz="1400">
                <a:solidFill>
                  <a:srgbClr val="00B05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2022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2022-08-10T18:54:30Z</dcterms:created>
  <dc:creator>YADIRA AMANDA VENEGAS MARTINEZ</dc:creator>
</cp:coreProperties>
</file>